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embeddedFontLst>
    <p:embeddedFont>
      <p:font typeface="Tomorrow SemiBold"/>
      <p:regular r:id="rId201314"/>
    </p:embeddedFont>
    <p:embeddedFont>
      <p:font typeface="Tomorrow"/>
      <p:regular r:id="rId201315"/>
    </p:embeddedFont>
    <p:embeddedFont>
      <p:font typeface="Tomorrow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FEFE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CFC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BraZzz-2026/Trabalho-Projeto-A3" TargetMode="Externa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1s38IFikrTmpMUEhcBD6RYmFrM5je_NH/view?usp=sharing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16331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Agente Autônomo de IA para Gestão de Clínica Odontológica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04877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Projeto A3 – Agentes Autônomos de IA para Negócios B2C · Grupo 4 · UNP 2026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Integrantes: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3704258"/>
            <a:ext cx="943124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D1D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14936" y="3751511"/>
            <a:ext cx="1220688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BRAZ MOURA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939085" y="3704258"/>
            <a:ext cx="991270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D1D1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8902" y="3751511"/>
            <a:ext cx="126883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THALES PAULO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6001196" y="3704258"/>
            <a:ext cx="1131466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D1D1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91014" y="3751511"/>
            <a:ext cx="140903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ANTONIO THIAGO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203504" y="3704258"/>
            <a:ext cx="98583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D1D1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93322" y="3751511"/>
            <a:ext cx="126340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ELOISA MARIA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12924"/>
            <a:ext cx="1189137" cy="244376"/>
          </a:xfrm>
          <a:prstGeom prst="roundRect">
            <a:avLst>
              <a:gd name="adj" fmla="val 6526"/>
            </a:avLst>
          </a:prstGeom>
          <a:solidFill>
            <a:srgbClr val="E6E6E5"/>
          </a:solidFill>
          <a:ln/>
        </p:spPr>
      </p:sp>
      <p:sp>
        <p:nvSpPr>
          <p:cNvPr id="4" name="Text 1"/>
          <p:cNvSpPr/>
          <p:nvPr/>
        </p:nvSpPr>
        <p:spPr>
          <a:xfrm>
            <a:off x="4004816" y="452735"/>
            <a:ext cx="1486942" cy="164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8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PROBLEMA ÂNCORA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925119" y="707082"/>
            <a:ext cx="388999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 Dor Real da Clínica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0831" y="1309241"/>
            <a:ext cx="4737050" cy="9887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15172" y="1456432"/>
            <a:ext cx="2188146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Gestão Manual da Agenda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115172" y="1738833"/>
            <a:ext cx="438551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Clínicas odontológicas ainda realizam agendamentos manualmente, gerando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atrasos, erros e retrabalho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na recepção.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10831" y="2422550"/>
            <a:ext cx="4737050" cy="11947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115172" y="2569741"/>
            <a:ext cx="17057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Demanda Repetitiva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4115172" y="2852142"/>
            <a:ext cx="4385518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Pacientes entram em contato constantemente para verificar horários, agendar ou cancelar — consumindo tempo da equipe administrativa.</a:t>
            </a:r>
            <a:endParaRPr lang="en-US" sz="10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10831" y="3741837"/>
            <a:ext cx="4737050" cy="9887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115172" y="3889028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Falta de Controle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4115172" y="4171429"/>
            <a:ext cx="4385518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Sem automação, o controle da agenda é impreciso, aumentando falhas no atendimento e insatisfação dos pacientes.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62298" y="411361"/>
            <a:ext cx="454744" cy="154409"/>
          </a:xfrm>
          <a:prstGeom prst="roundRect">
            <a:avLst>
              <a:gd name="adj" fmla="val 7230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1418109" y="439266"/>
            <a:ext cx="800323" cy="9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SOLUÇÃO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362298" y="590178"/>
            <a:ext cx="3483769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 Agente Autônomo de 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62298" y="972443"/>
            <a:ext cx="641940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Um agente desenvolvido na plataforma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n8n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que automatiza o atendimento inicial da </a:t>
            </a:r>
            <a:pPr algn="l" indent="0" marL="0">
              <a:lnSpc>
                <a:spcPct val="110000"/>
              </a:lnSpc>
              <a:buNone/>
            </a:pPr>
            <a:r>
              <a:rPr lang="en-US" sz="7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Clínica Odontológica Sorriso Feliz</a:t>
            </a:r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via Telegram, integrando IA generativa e Google Sheets.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472" y="1287587"/>
            <a:ext cx="5726981" cy="31294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63696" y="2663630"/>
            <a:ext cx="1326969" cy="36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Paciente envia via Telegram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14520" y="2552999"/>
            <a:ext cx="1326970" cy="541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IA (Google Gemini) interpreta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77623" y="2649789"/>
            <a:ext cx="1326970" cy="36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Agenda no Google Sheets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62298" y="4485680"/>
            <a:ext cx="6419404" cy="246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 fluxo opera de forma autônoma: desde o recebimento da mensagem até a atualização da agenda, com encaminhamento humano apenas quando necessário.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0182" y="429220"/>
            <a:ext cx="508843" cy="177850"/>
          </a:xfrm>
          <a:prstGeom prst="roundRect">
            <a:avLst>
              <a:gd name="adj" fmla="val 7025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1042615" y="460400"/>
            <a:ext cx="841177" cy="115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6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SOLUÇÃO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80182" y="637580"/>
            <a:ext cx="3469332" cy="325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Arquitetura da Solução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182" y="1163538"/>
            <a:ext cx="3464793" cy="34647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3638" y="2200573"/>
            <a:ext cx="1758553" cy="1626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Como Funciona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703638" y="2439665"/>
            <a:ext cx="3464793" cy="577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 agente recebe mensagens no Telegram (texto ou áudio), transcreve automaticamente, interpreta a intenção com o Google Gemini e executa ações na agenda do Google Sheets — tudo sem intervenção humana.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703638" y="3103364"/>
            <a:ext cx="3464793" cy="478334"/>
          </a:xfrm>
          <a:prstGeom prst="roundRect">
            <a:avLst>
              <a:gd name="adj" fmla="val 3265"/>
            </a:avLst>
          </a:prstGeom>
          <a:solidFill>
            <a:srgbClr val="B6D6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744" y="3256583"/>
            <a:ext cx="130076" cy="1041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41925" y="3198093"/>
            <a:ext cx="3022402" cy="288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6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Casos complexos são encaminhados para a recepção da clínica.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8016" y="1202308"/>
            <a:ext cx="6607894" cy="212645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21557" y="3632597"/>
            <a:ext cx="590088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Diagrama da Arquitetura Real  </a:t>
            </a:r>
            <a:endParaRPr lang="en-US" sz="2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0794"/>
            <a:ext cx="693167" cy="266402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43285"/>
            <a:ext cx="98025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SOLUÇÃO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23900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 Que o Agente Faz</a:t>
            </a:r>
            <a:endParaRPr lang="en-US" sz="2750" dirty="0"/>
          </a:p>
        </p:txBody>
      </p:sp>
      <p:sp>
        <p:nvSpPr>
          <p:cNvPr id="5" name="Shape 3"/>
          <p:cNvSpPr/>
          <p:nvPr/>
        </p:nvSpPr>
        <p:spPr>
          <a:xfrm>
            <a:off x="496119" y="137948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F0EAEA"/>
          </a:solidFill>
          <a:ln/>
        </p:spPr>
      </p:sp>
      <p:sp>
        <p:nvSpPr>
          <p:cNvPr id="6" name="Shape 4"/>
          <p:cNvSpPr/>
          <p:nvPr/>
        </p:nvSpPr>
        <p:spPr>
          <a:xfrm>
            <a:off x="637877" y="15212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D1D1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4856" y="1638151"/>
            <a:ext cx="191319" cy="1913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37877" y="20882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Consultar Horários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239479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Verifica automaticamente os horários disponíveis na agenda.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60601" y="137948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F0EAEA"/>
          </a:solidFill>
          <a:ln/>
        </p:spPr>
      </p:sp>
      <p:sp>
        <p:nvSpPr>
          <p:cNvPr id="11" name="Shape 8"/>
          <p:cNvSpPr/>
          <p:nvPr/>
        </p:nvSpPr>
        <p:spPr>
          <a:xfrm>
            <a:off x="3402360" y="15212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D1D1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638151"/>
            <a:ext cx="191319" cy="1913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02360" y="20882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Agendar Consultas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402360" y="239479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Registra novos agendamentos diretamente na planilha.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025083" y="1379488"/>
            <a:ext cx="2622724" cy="1610692"/>
          </a:xfrm>
          <a:prstGeom prst="roundRect">
            <a:avLst>
              <a:gd name="adj" fmla="val 1320"/>
            </a:avLst>
          </a:prstGeom>
          <a:solidFill>
            <a:srgbClr val="F0EAEA"/>
          </a:solidFill>
          <a:ln/>
        </p:spPr>
      </p:sp>
      <p:sp>
        <p:nvSpPr>
          <p:cNvPr id="16" name="Shape 12"/>
          <p:cNvSpPr/>
          <p:nvPr/>
        </p:nvSpPr>
        <p:spPr>
          <a:xfrm>
            <a:off x="6166842" y="152124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D1D1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3821" y="1638151"/>
            <a:ext cx="191319" cy="1913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66842" y="208828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Cancelar Consultas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166842" y="2394793"/>
            <a:ext cx="23392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Remove consultas existentes e atualiza a agenda.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6119" y="3131939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F0EAEA"/>
          </a:solidFill>
          <a:ln/>
        </p:spPr>
      </p:sp>
      <p:sp>
        <p:nvSpPr>
          <p:cNvPr id="21" name="Shape 16"/>
          <p:cNvSpPr/>
          <p:nvPr/>
        </p:nvSpPr>
        <p:spPr>
          <a:xfrm>
            <a:off x="637877" y="327369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D1D1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856" y="3390602"/>
            <a:ext cx="191319" cy="19131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7877" y="384073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Texto e Áudio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37877" y="4147245"/>
            <a:ext cx="37214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Aceita mensagens em texto e áudio com transcrição automática.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642842" y="3131939"/>
            <a:ext cx="4004965" cy="1610692"/>
          </a:xfrm>
          <a:prstGeom prst="roundRect">
            <a:avLst>
              <a:gd name="adj" fmla="val 1320"/>
            </a:avLst>
          </a:prstGeom>
          <a:solidFill>
            <a:srgbClr val="F0EAEA"/>
          </a:solidFill>
          <a:ln/>
        </p:spPr>
      </p:sp>
      <p:sp>
        <p:nvSpPr>
          <p:cNvPr id="26" name="Shape 20"/>
          <p:cNvSpPr/>
          <p:nvPr/>
        </p:nvSpPr>
        <p:spPr>
          <a:xfrm>
            <a:off x="4784601" y="3273698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1D1D1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01580" y="3390602"/>
            <a:ext cx="191319" cy="191319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84601" y="3840733"/>
            <a:ext cx="24267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Encaminhamento Humano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784601" y="4147245"/>
            <a:ext cx="372144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Casos complexos são transferidos para a recepção.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400348"/>
            <a:ext cx="846162" cy="218033"/>
          </a:xfrm>
          <a:prstGeom prst="roundRect">
            <a:avLst>
              <a:gd name="adj" fmla="val 6705"/>
            </a:avLst>
          </a:prstGeom>
          <a:solidFill>
            <a:srgbClr val="E6E6E5"/>
          </a:solidFill>
          <a:ln/>
        </p:spPr>
      </p:sp>
      <p:sp>
        <p:nvSpPr>
          <p:cNvPr id="4" name="Text 1"/>
          <p:cNvSpPr/>
          <p:nvPr/>
        </p:nvSpPr>
        <p:spPr>
          <a:xfrm>
            <a:off x="3998193" y="436885"/>
            <a:ext cx="1157213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7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METODOLOGIA</a:t>
            </a:r>
            <a:endParaRPr lang="en-US" sz="750" dirty="0"/>
          </a:p>
        </p:txBody>
      </p:sp>
      <p:sp>
        <p:nvSpPr>
          <p:cNvPr id="5" name="Text 2"/>
          <p:cNvSpPr/>
          <p:nvPr/>
        </p:nvSpPr>
        <p:spPr>
          <a:xfrm>
            <a:off x="3925119" y="660202"/>
            <a:ext cx="4071640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Como Foi Desenvolvido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3925119" y="1197918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01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3925119" y="1390650"/>
            <a:ext cx="4722763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8" name="Text 5"/>
          <p:cNvSpPr/>
          <p:nvPr/>
        </p:nvSpPr>
        <p:spPr>
          <a:xfrm>
            <a:off x="3925119" y="1480096"/>
            <a:ext cx="2329979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Definição do Problema Âncora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925119" y="1733252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Mapeamento das necessidades do negócio e da dor real da clínica.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25119" y="2110383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02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925119" y="2303115"/>
            <a:ext cx="4722763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2" name="Text 9"/>
          <p:cNvSpPr/>
          <p:nvPr/>
        </p:nvSpPr>
        <p:spPr>
          <a:xfrm>
            <a:off x="3925119" y="2392561"/>
            <a:ext cx="2754437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Agenda Simulada no Google Sheets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3925119" y="2645718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Criação de planilha com horários disponíveis e consultas cadastradas.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25119" y="3022848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03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925119" y="3215580"/>
            <a:ext cx="4722763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16" name="Text 13"/>
          <p:cNvSpPr/>
          <p:nvPr/>
        </p:nvSpPr>
        <p:spPr>
          <a:xfrm>
            <a:off x="3925119" y="3305026"/>
            <a:ext cx="2129730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Fluxo Automatizado no n8n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3925119" y="3558183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Integração entre Telegram, IA (Google Gemini) e Google Sheets.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925119" y="3935313"/>
            <a:ext cx="243632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 Light" pitchFamily="34" charset="0"/>
                <a:ea typeface="Tomorrow Light" pitchFamily="34" charset="-122"/>
                <a:cs typeface="Tomorrow Light" pitchFamily="34" charset="-120"/>
              </a:rPr>
              <a:t>04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925119" y="4128046"/>
            <a:ext cx="4722763" cy="14288"/>
          </a:xfrm>
          <a:prstGeom prst="rect">
            <a:avLst/>
          </a:prstGeom>
          <a:solidFill>
            <a:srgbClr val="1D1D1B"/>
          </a:solidFill>
          <a:ln/>
        </p:spPr>
      </p:sp>
      <p:sp>
        <p:nvSpPr>
          <p:cNvPr id="20" name="Text 17"/>
          <p:cNvSpPr/>
          <p:nvPr/>
        </p:nvSpPr>
        <p:spPr>
          <a:xfrm>
            <a:off x="3925119" y="4217491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Testes e Validação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925119" y="4470648"/>
            <a:ext cx="4722763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Validação dos processos de consulta, agendamento e cancelamento.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648965"/>
            <a:ext cx="952277" cy="266402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91455"/>
            <a:ext cx="123936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TECNOLOGIAS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972071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Stack Tecnológico</a:t>
            </a:r>
            <a:endParaRPr lang="en-US" sz="27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27659"/>
            <a:ext cx="354360" cy="35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1591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n8n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2465710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Plataforma no-code para orquestração do fluxo automatizado.</a:t>
            </a:r>
            <a:endParaRPr lang="en-US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627659"/>
            <a:ext cx="354360" cy="35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72433" y="21591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Google Gemini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272433" y="2465710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IA generativa para interpretação de intenção e geração de respostas.</a:t>
            </a:r>
            <a:endParaRPr lang="en-US" sz="11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627659"/>
            <a:ext cx="354360" cy="35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8747" y="215919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Telegram Bot API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048747" y="2465710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Canal de comunicação com os pacientes via mensagens e áudio.</a:t>
            </a:r>
            <a:endParaRPr lang="en-US" sz="11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02856"/>
            <a:ext cx="354360" cy="35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96119" y="37343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Google Sheets</a:t>
            </a:r>
            <a:endParaRPr lang="en-US" sz="1350" dirty="0"/>
          </a:p>
        </p:txBody>
      </p:sp>
      <p:sp>
        <p:nvSpPr>
          <p:cNvPr id="16" name="Text 10"/>
          <p:cNvSpPr/>
          <p:nvPr/>
        </p:nvSpPr>
        <p:spPr>
          <a:xfrm>
            <a:off x="496119" y="404090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Armazenamento e consulta da agenda de consultas da clínica.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202856"/>
            <a:ext cx="354360" cy="3543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272433" y="373439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Google OAuth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272433" y="4040907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Autenticação segura para acesso às APIs do Google.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425351"/>
            <a:ext cx="840879" cy="249882"/>
          </a:xfrm>
          <a:prstGeom prst="roundRect">
            <a:avLst>
              <a:gd name="adj" fmla="val 6489"/>
            </a:avLst>
          </a:prstGeom>
          <a:solidFill>
            <a:srgbClr val="E6E6E5"/>
          </a:solidFill>
          <a:ln/>
        </p:spPr>
      </p:sp>
      <p:sp>
        <p:nvSpPr>
          <p:cNvPr id="4" name="Text 1"/>
          <p:cNvSpPr/>
          <p:nvPr/>
        </p:nvSpPr>
        <p:spPr>
          <a:xfrm>
            <a:off x="577155" y="465832"/>
            <a:ext cx="1136005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RESULTADOS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726728"/>
            <a:ext cx="4722763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O Que Foi Comprovado nos Testes</a:t>
            </a:r>
            <a:endParaRPr lang="en-US" sz="2650" dirty="0"/>
          </a:p>
        </p:txBody>
      </p:sp>
      <p:sp>
        <p:nvSpPr>
          <p:cNvPr id="6" name="Shape 3"/>
          <p:cNvSpPr/>
          <p:nvPr/>
        </p:nvSpPr>
        <p:spPr>
          <a:xfrm>
            <a:off x="496119" y="1764506"/>
            <a:ext cx="2297013" cy="1834679"/>
          </a:xfrm>
          <a:prstGeom prst="roundRect">
            <a:avLst>
              <a:gd name="adj" fmla="val 1105"/>
            </a:avLst>
          </a:prstGeom>
          <a:solidFill>
            <a:srgbClr val="F0EAEA"/>
          </a:solidFill>
          <a:ln/>
        </p:spPr>
      </p:sp>
      <p:sp>
        <p:nvSpPr>
          <p:cNvPr id="7" name="Text 4"/>
          <p:cNvSpPr/>
          <p:nvPr/>
        </p:nvSpPr>
        <p:spPr>
          <a:xfrm>
            <a:off x="631180" y="1899568"/>
            <a:ext cx="2026890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Atendimento Completo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31180" y="2408560"/>
            <a:ext cx="2026890" cy="1055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 agente recebeu mensagens de texto e áudio, realizou transcrição automática e respondeu corretamente às solicitações dos pacientes.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1868" y="1764506"/>
            <a:ext cx="2297013" cy="1834679"/>
          </a:xfrm>
          <a:prstGeom prst="roundRect">
            <a:avLst>
              <a:gd name="adj" fmla="val 1105"/>
            </a:avLst>
          </a:prstGeom>
          <a:solidFill>
            <a:srgbClr val="F0EAEA"/>
          </a:solidFill>
          <a:ln/>
        </p:spPr>
      </p:sp>
      <p:sp>
        <p:nvSpPr>
          <p:cNvPr id="10" name="Text 7"/>
          <p:cNvSpPr/>
          <p:nvPr/>
        </p:nvSpPr>
        <p:spPr>
          <a:xfrm>
            <a:off x="3056930" y="1899568"/>
            <a:ext cx="1859607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Agenda Atualizada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56930" y="2197447"/>
            <a:ext cx="202689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Consultou horários, agendou e cancelou consultas, atualizando automaticamente a planilha Google Sheets.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96119" y="3727921"/>
            <a:ext cx="4722763" cy="990228"/>
          </a:xfrm>
          <a:prstGeom prst="roundRect">
            <a:avLst>
              <a:gd name="adj" fmla="val 2047"/>
            </a:avLst>
          </a:prstGeom>
          <a:solidFill>
            <a:srgbClr val="F0EAEA"/>
          </a:solidFill>
          <a:ln/>
        </p:spPr>
      </p:sp>
      <p:sp>
        <p:nvSpPr>
          <p:cNvPr id="13" name="Text 10"/>
          <p:cNvSpPr/>
          <p:nvPr/>
        </p:nvSpPr>
        <p:spPr>
          <a:xfrm>
            <a:off x="631180" y="3862983"/>
            <a:ext cx="1688976" cy="220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✅</a:t>
            </a:r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Boa Integração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31180" y="4160862"/>
            <a:ext cx="4452640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Demonstrou capacidade de integração entre Telegram, IA e Google Sheets com fluxo estável.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936947"/>
            <a:ext cx="1020738" cy="266402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979438"/>
            <a:ext cx="130782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VALOR GERADO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60053"/>
            <a:ext cx="57382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Impacto e Adequação à LGPD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2057400"/>
            <a:ext cx="229790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Valor para o Negócio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96119" y="2420615"/>
            <a:ext cx="3902943" cy="173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Redução do trabalho manual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da recepção em tarefas repetitivas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Menos erros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no agendamento e controle de agenda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Melhoria na experiência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do paciente com atendimento ágil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Escalabilidade</a:t>
            </a:r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do atendimento sem aumento de equipe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47605" y="1915641"/>
            <a:ext cx="4107135" cy="2290911"/>
          </a:xfrm>
          <a:prstGeom prst="roundRect">
            <a:avLst>
              <a:gd name="adj" fmla="val 928"/>
            </a:avLst>
          </a:prstGeom>
          <a:solidFill>
            <a:srgbClr val="1D1D1B"/>
          </a:solidFill>
          <a:ln/>
        </p:spPr>
      </p:sp>
      <p:sp>
        <p:nvSpPr>
          <p:cNvPr id="8" name="Text 6"/>
          <p:cNvSpPr/>
          <p:nvPr/>
        </p:nvSpPr>
        <p:spPr>
          <a:xfrm>
            <a:off x="4789363" y="20574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Adequação à LGPD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789363" y="2420615"/>
            <a:ext cx="3823618" cy="1233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Apenas dados mínimos utilizados (nome e telefone)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Credenciais de APIs não armazenadas em repositório público</a:t>
            </a:r>
            <a:endParaRPr lang="en-US" sz="1100" dirty="0"/>
          </a:p>
          <a:p>
            <a:pPr algn="l" marL="342900" indent="-34290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Sistema desenvolvido para fins acadêmicos e de demonstração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711622"/>
            <a:ext cx="847874" cy="266402"/>
          </a:xfrm>
          <a:prstGeom prst="roundRect">
            <a:avLst>
              <a:gd name="adj" fmla="val 6386"/>
            </a:avLst>
          </a:prstGeom>
          <a:solidFill>
            <a:srgbClr val="E6E6E5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754112"/>
            <a:ext cx="1134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CONCLUSÃO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034728"/>
            <a:ext cx="580667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Conclusão e Próximos Passos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690315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O agente demonstrou ser capaz de automatizar processos de atendimento, reduzir atividades manuais e melhorar a experiência do paciente — aplicando conceitos de automação e IA em cenário próximo da realidade empresarial.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2303413"/>
            <a:ext cx="2622724" cy="1539553"/>
          </a:xfrm>
          <a:prstGeom prst="roundRect">
            <a:avLst>
              <a:gd name="adj" fmla="val 1381"/>
            </a:avLst>
          </a:prstGeom>
          <a:solidFill>
            <a:srgbClr val="FCFCFC"/>
          </a:solidFill>
          <a:ln w="19050">
            <a:solidFill>
              <a:srgbClr val="D6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6927" y="2464222"/>
            <a:ext cx="2143795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🔮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Banco de Dados Real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780258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Integrar a um banco de dados real no lugar da planilha simulada.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303413"/>
            <a:ext cx="2622724" cy="1539553"/>
          </a:xfrm>
          <a:prstGeom prst="roundRect">
            <a:avLst>
              <a:gd name="adj" fmla="val 1381"/>
            </a:avLst>
          </a:prstGeom>
          <a:solidFill>
            <a:srgbClr val="FCFCFC"/>
          </a:solidFill>
          <a:ln w="19050">
            <a:solidFill>
              <a:srgbClr val="D6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1410" y="2464222"/>
            <a:ext cx="230110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🔔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Confirmação Automática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21410" y="3001714"/>
            <a:ext cx="230110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Adicionar lembretes e confirmação automática de consultas.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2303413"/>
            <a:ext cx="2622724" cy="1539553"/>
          </a:xfrm>
          <a:prstGeom prst="roundRect">
            <a:avLst>
              <a:gd name="adj" fmla="val 1381"/>
            </a:avLst>
          </a:prstGeom>
          <a:solidFill>
            <a:srgbClr val="FCFCFC"/>
          </a:solidFill>
          <a:ln w="19050">
            <a:solidFill>
              <a:srgbClr val="D6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5892" y="2464222"/>
            <a:ext cx="2301106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📅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61615C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 Calendário Corporativo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85892" y="3001714"/>
            <a:ext cx="2301106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Implementar integração com calendário corporativo da clínica.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4037856"/>
            <a:ext cx="8151763" cy="17711"/>
          </a:xfrm>
          <a:prstGeom prst="roundRect">
            <a:avLst>
              <a:gd name="adj" fmla="val 120067"/>
            </a:avLst>
          </a:prstGeom>
          <a:solidFill>
            <a:srgbClr val="61615C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96119" y="4250457"/>
            <a:ext cx="860896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b="1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Referências:</a:t>
            </a:r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61615C"/>
                </a:solidFill>
                <a:latin typeface="Tomorrow" pitchFamily="34" charset="0"/>
                <a:ea typeface="Tomorrow" pitchFamily="34" charset="-122"/>
                <a:cs typeface="Tomorrow" pitchFamily="34" charset="-120"/>
              </a:rPr>
              <a:t> Repositório do Workflow = </a:t>
            </a:r>
            <a:pPr algn="l" indent="0" marL="0">
              <a:lnSpc>
                <a:spcPct val="133000"/>
              </a:lnSpc>
              <a:buNone/>
            </a:pPr>
            <a:r>
              <a:rPr lang="en-US" sz="850" u="sng" dirty="0">
                <a:solidFill>
                  <a:srgbClr val="1D1D1B"/>
                </a:solidFill>
                <a:latin typeface="Tomorrow" pitchFamily="34" charset="0"/>
                <a:ea typeface="Tomorrow" pitchFamily="34" charset="-122"/>
                <a:cs typeface="Tomorrow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https://github.com/BraZzz-2026/Trabalho-Projeto-A3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888480"/>
            <a:ext cx="8151763" cy="71087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571304" y="281195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D1D1B"/>
                </a:solidFill>
                <a:latin typeface="Tomorrow SemiBold" pitchFamily="34" charset="0"/>
                <a:ea typeface="Tomorrow SemiBold" pitchFamily="34" charset="-122"/>
                <a:cs typeface="Tomorrow SemiBold" pitchFamily="34" charset="-120"/>
              </a:rPr>
              <a:t>Fluxo em Atividade </a:t>
            </a:r>
            <a:endParaRPr lang="en-US" sz="2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D1D1B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2026-06-13T04:09:02Z</dcterms:created>
  <dcterms:modified xsi:type="dcterms:W3CDTF">2026-06-13T04:09:02Z</dcterms:modified>
</cp:coreProperties>
</file>